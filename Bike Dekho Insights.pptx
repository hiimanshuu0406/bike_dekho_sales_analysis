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8"/>
  </p:notesMasterIdLst>
  <p:handoutMasterIdLst>
    <p:handoutMasterId r:id="rId19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19" r:id="rId14"/>
    <p:sldId id="321" r:id="rId15"/>
    <p:sldId id="322" r:id="rId16"/>
    <p:sldId id="297" r:id="rId17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87" d="100"/>
          <a:sy n="87" d="100"/>
        </p:scale>
        <p:origin x="528" y="67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hiimanshuu0406@gmail.com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89" y="1513389"/>
            <a:ext cx="6392421" cy="3831221"/>
          </a:xfrm>
        </p:spPr>
        <p:txBody>
          <a:bodyPr anchor="ctr"/>
          <a:lstStyle/>
          <a:p>
            <a:r>
              <a:rPr lang="en-US" dirty="0"/>
              <a:t>Bike dekho sales analyses</a:t>
            </a:r>
          </a:p>
        </p:txBody>
      </p:sp>
      <p:pic>
        <p:nvPicPr>
          <p:cNvPr id="1028" name="Picture 4" descr="BikeDekho - Bikes &amp; Scooters - Apps on Google Play">
            <a:extLst>
              <a:ext uri="{FF2B5EF4-FFF2-40B4-BE49-F238E27FC236}">
                <a16:creationId xmlns:a16="http://schemas.microsoft.com/office/drawing/2014/main" id="{BB97F5E0-E9EF-B1AE-BC2F-A10C0F4FA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6092" y="94372"/>
            <a:ext cx="3499816" cy="2489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28688"/>
            <a:ext cx="6583680" cy="1531357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n-US" dirty="0"/>
              <a:t>To analyze factors influencing bike purchase decisions 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/>
              <a:t>To identify patterns and insights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/>
              <a:t>To design an interactive dashboard </a:t>
            </a:r>
          </a:p>
          <a:p>
            <a:pPr marL="457200" indent="-457200">
              <a:buFont typeface="+mj-lt"/>
              <a:buAutoNum type="arabicParenR"/>
            </a:pPr>
            <a:r>
              <a:rPr lang="en-US" dirty="0"/>
              <a:t>To support business decisions</a:t>
            </a: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1954" y="0"/>
            <a:ext cx="5723586" cy="4739104"/>
          </a:xfrm>
        </p:spPr>
        <p:txBody>
          <a:bodyPr/>
          <a:lstStyle/>
          <a:p>
            <a:r>
              <a:rPr lang="en-US" dirty="0"/>
              <a:t>Data Overview</a:t>
            </a:r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84C7E291-5CFE-1BF8-2D56-D2C2BAD3A414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t="1212" b="1212"/>
          <a:stretch>
            <a:fillRect/>
          </a:stretch>
        </p:blipFill>
        <p:spPr/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9DF9F2-AD38-B845-3F15-40C934FD5CAB}"/>
              </a:ext>
            </a:extLst>
          </p:cNvPr>
          <p:cNvSpPr txBox="1"/>
          <p:nvPr/>
        </p:nvSpPr>
        <p:spPr>
          <a:xfrm>
            <a:off x="5150955" y="2860093"/>
            <a:ext cx="61075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The dataset contains information on 1,000 individuals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There are attributes like- ID, gender, region, occupation, income,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6"/>
                </a:solidFill>
              </a:rPr>
              <a:t>The dataset is balanced in terms of gender and includes a diverse mix of occupations and regions.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10780"/>
            <a:ext cx="5259554" cy="580503"/>
          </a:xfrm>
        </p:spPr>
        <p:txBody>
          <a:bodyPr/>
          <a:lstStyle/>
          <a:p>
            <a:r>
              <a:rPr lang="en-US" dirty="0"/>
              <a:t>Excel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399105"/>
            <a:ext cx="5259554" cy="4464981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50" dirty="0"/>
              <a:t>The dataset consists of </a:t>
            </a:r>
            <a:r>
              <a:rPr lang="en-US" sz="1850" b="1" dirty="0"/>
              <a:t>489 females</a:t>
            </a:r>
            <a:r>
              <a:rPr lang="en-US" sz="1850" dirty="0"/>
              <a:t> and </a:t>
            </a:r>
            <a:r>
              <a:rPr lang="en-US" sz="1850" b="1" dirty="0"/>
              <a:t>511 males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50" dirty="0"/>
              <a:t>Female Purchase Rate:</a:t>
            </a:r>
          </a:p>
          <a:p>
            <a:r>
              <a:rPr lang="en-US" sz="1850" dirty="0"/>
              <a:t>      (239/489)*100 = 48.88 %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50" dirty="0"/>
              <a:t>Male Purchase Rate:</a:t>
            </a:r>
          </a:p>
          <a:p>
            <a:r>
              <a:rPr lang="en-US" sz="1850" dirty="0"/>
              <a:t>      (242/511)*100 = 47.35 %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50" dirty="0"/>
              <a:t>Both genders show almost equal likelihood of purchasing a bike. The difference is less than 2%, meaning gender does not significantly influence the decision to purchase a bike in this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50" dirty="0"/>
              <a:t>The number of people who didn’t buy a bike is:</a:t>
            </a:r>
          </a:p>
          <a:p>
            <a:r>
              <a:rPr lang="en-US" sz="1850" b="1" dirty="0"/>
              <a:t>     250 females</a:t>
            </a:r>
            <a:endParaRPr lang="en-US" sz="1850" dirty="0"/>
          </a:p>
          <a:p>
            <a:r>
              <a:rPr lang="en-US" sz="1850" b="1" dirty="0"/>
              <a:t>     269 males</a:t>
            </a:r>
            <a:endParaRPr lang="en-US" sz="185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5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3B54F55-777B-965A-370F-6FC7D352E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3954" y="1728582"/>
            <a:ext cx="6018046" cy="3807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1348" y="374837"/>
            <a:ext cx="5880652" cy="6403649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1900" b="1" dirty="0"/>
              <a:t>North America</a:t>
            </a:r>
          </a:p>
          <a:p>
            <a:r>
              <a:rPr lang="en-US" b="1" dirty="0"/>
              <a:t>Total Users: </a:t>
            </a:r>
            <a:r>
              <a:rPr lang="en-US" dirty="0"/>
              <a:t>508 (over half the dataset)</a:t>
            </a:r>
          </a:p>
          <a:p>
            <a:r>
              <a:rPr lang="en-US" b="1" dirty="0"/>
              <a:t>Bike Purchasers: </a:t>
            </a:r>
            <a:r>
              <a:rPr lang="en-US" dirty="0"/>
              <a:t>220</a:t>
            </a:r>
          </a:p>
          <a:p>
            <a:r>
              <a:rPr lang="en-US" b="1" dirty="0"/>
              <a:t>Non-purchasers: </a:t>
            </a:r>
            <a:r>
              <a:rPr lang="en-US" dirty="0"/>
              <a:t>288</a:t>
            </a:r>
          </a:p>
          <a:p>
            <a:r>
              <a:rPr lang="en-US" b="1" dirty="0"/>
              <a:t>Purchase Rate: </a:t>
            </a:r>
            <a:r>
              <a:rPr lang="en-US" dirty="0"/>
              <a:t>(220÷508)×100≈43.3</a:t>
            </a:r>
          </a:p>
          <a:p>
            <a:pPr marL="342900" indent="-342900">
              <a:buAutoNum type="arabicPeriod" startAt="2"/>
            </a:pPr>
            <a:r>
              <a:rPr lang="en-US" sz="1900" b="1" dirty="0"/>
              <a:t>Pacific</a:t>
            </a:r>
          </a:p>
          <a:p>
            <a:r>
              <a:rPr lang="en-US" b="1" dirty="0"/>
              <a:t>Total Users: </a:t>
            </a:r>
            <a:r>
              <a:rPr lang="en-US" dirty="0"/>
              <a:t>192</a:t>
            </a:r>
          </a:p>
          <a:p>
            <a:r>
              <a:rPr lang="en-US" b="1" dirty="0"/>
              <a:t>Bike Purchasers: </a:t>
            </a:r>
            <a:r>
              <a:rPr lang="en-US" dirty="0"/>
              <a:t>113</a:t>
            </a:r>
          </a:p>
          <a:p>
            <a:r>
              <a:rPr lang="en-US" b="1" dirty="0"/>
              <a:t>Non-purchasers: </a:t>
            </a:r>
            <a:r>
              <a:rPr lang="en-US" dirty="0"/>
              <a:t>79</a:t>
            </a:r>
          </a:p>
          <a:p>
            <a:r>
              <a:rPr lang="en-US" b="1" dirty="0"/>
              <a:t>Purchase Rate: </a:t>
            </a:r>
            <a:r>
              <a:rPr lang="en-US" dirty="0"/>
              <a:t>(113÷192)×100≈58.9</a:t>
            </a:r>
          </a:p>
          <a:p>
            <a:pPr marL="342900" indent="-342900">
              <a:buAutoNum type="arabicPeriod" startAt="3"/>
            </a:pPr>
            <a:r>
              <a:rPr lang="en-US" sz="1900" b="1" dirty="0"/>
              <a:t>Europe</a:t>
            </a:r>
          </a:p>
          <a:p>
            <a:r>
              <a:rPr lang="en-US" b="1" dirty="0"/>
              <a:t>Total Users: </a:t>
            </a:r>
            <a:r>
              <a:rPr lang="en-US" dirty="0"/>
              <a:t>300</a:t>
            </a:r>
          </a:p>
          <a:p>
            <a:r>
              <a:rPr lang="en-US" b="1" dirty="0"/>
              <a:t>Bike Purchasers:</a:t>
            </a:r>
            <a:r>
              <a:rPr lang="en-US" dirty="0"/>
              <a:t> 148</a:t>
            </a:r>
          </a:p>
          <a:p>
            <a:r>
              <a:rPr lang="en-US" b="1" dirty="0"/>
              <a:t>Non-purchasers: </a:t>
            </a:r>
            <a:r>
              <a:rPr lang="en-US" dirty="0"/>
              <a:t>152</a:t>
            </a:r>
          </a:p>
          <a:p>
            <a:r>
              <a:rPr lang="en-US" b="1" dirty="0"/>
              <a:t>Purchase Rate: </a:t>
            </a:r>
            <a:r>
              <a:rPr lang="en-US" dirty="0"/>
              <a:t>(148÷300)×100≈49.3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B41E40-B858-0561-9B6D-EBA1936B8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08" y="1174371"/>
            <a:ext cx="5847522" cy="4509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043618" cy="2233233"/>
          </a:xfrm>
        </p:spPr>
        <p:txBody>
          <a:bodyPr/>
          <a:lstStyle/>
          <a:p>
            <a:r>
              <a:rPr lang="en-US" dirty="0"/>
              <a:t>Individuals who purchased a bike have a higher average income by:</a:t>
            </a:r>
          </a:p>
          <a:p>
            <a:r>
              <a:rPr lang="en-US" dirty="0"/>
              <a:t>$57,962.58−$54,874.76= $3,087.82</a:t>
            </a:r>
          </a:p>
          <a:p>
            <a:endParaRPr lang="en-US" dirty="0"/>
          </a:p>
          <a:p>
            <a:r>
              <a:rPr lang="en-US" dirty="0"/>
              <a:t>Percentage Difference:</a:t>
            </a:r>
          </a:p>
          <a:p>
            <a:r>
              <a:rPr lang="en-US" dirty="0"/>
              <a:t>($3,087.82÷$54,874.76)×100≈ 5.63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672E80-A6AE-D1E4-0158-8844EF9D2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615" y="105614"/>
            <a:ext cx="6829611" cy="3323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0" y="136297"/>
            <a:ext cx="8633641" cy="6642189"/>
          </a:xfrm>
        </p:spPr>
        <p:txBody>
          <a:bodyPr>
            <a:normAutofit lnSpcReduction="10000"/>
          </a:bodyPr>
          <a:lstStyle/>
          <a:p>
            <a:pPr marL="342900" indent="-342900">
              <a:buAutoNum type="arabicPeriod"/>
            </a:pPr>
            <a:r>
              <a:rPr lang="en-US" b="1" dirty="0"/>
              <a:t>Bachelor’s Degree Holders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Highest number of bike purchases (169) among all education groups.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Purchase rate:</a:t>
            </a:r>
          </a:p>
          <a:p>
            <a:r>
              <a:rPr lang="en-US" dirty="0"/>
              <a:t>     (169÷306)×100≈55.2</a:t>
            </a:r>
          </a:p>
          <a:p>
            <a:pPr marL="342900" indent="-342900">
              <a:buAutoNum type="arabicPeriod" startAt="2"/>
            </a:pPr>
            <a:r>
              <a:rPr lang="en-US" b="1" dirty="0"/>
              <a:t>Graduate Degree Holders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Bike Purchasers: 94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Purchase rate:</a:t>
            </a:r>
          </a:p>
          <a:p>
            <a:r>
              <a:rPr lang="en-US" dirty="0"/>
              <a:t>     (94÷174)×100≈54.0</a:t>
            </a:r>
          </a:p>
          <a:p>
            <a:pPr marL="342900" indent="-342900">
              <a:buAutoNum type="arabicPeriod" startAt="3"/>
            </a:pPr>
            <a:r>
              <a:rPr lang="en-US" b="1" dirty="0"/>
              <a:t>High School Graduates &amp; Partial College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High School Purchase Rate:</a:t>
            </a:r>
          </a:p>
          <a:p>
            <a:r>
              <a:rPr lang="en-US" dirty="0"/>
              <a:t>     (79÷179)×100≈44.1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Partial College Purchase Rate:</a:t>
            </a:r>
          </a:p>
          <a:p>
            <a:r>
              <a:rPr lang="en-US" dirty="0"/>
              <a:t>     (119÷265)×100≈44.9</a:t>
            </a:r>
          </a:p>
          <a:p>
            <a:pPr marL="342900" indent="-342900">
              <a:buAutoNum type="arabicPeriod" startAt="4"/>
            </a:pPr>
            <a:r>
              <a:rPr lang="en-US" b="1" dirty="0"/>
              <a:t>Partial High School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20 out of 76 purchased a bike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Purchase rate:</a:t>
            </a:r>
          </a:p>
          <a:p>
            <a:r>
              <a:rPr lang="en-US" dirty="0"/>
              <a:t>     (20÷76)×100≈26.3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839175-3D0D-5DF3-C968-7AFF47EEE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6161" y="1328991"/>
            <a:ext cx="7405862" cy="425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36104" y="813801"/>
            <a:ext cx="4562061" cy="5666512"/>
          </a:xfrm>
        </p:spPr>
        <p:txBody>
          <a:bodyPr>
            <a:normAutofit/>
          </a:bodyPr>
          <a:lstStyle/>
          <a:p>
            <a:r>
              <a:rPr lang="en-US" b="1" dirty="0"/>
              <a:t>Married Individuals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Bike Purchasers: 231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Married Individuals: 538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Purchase Rate:</a:t>
            </a:r>
          </a:p>
          <a:p>
            <a:pPr marL="0" indent="0">
              <a:buNone/>
            </a:pPr>
            <a:r>
              <a:rPr lang="en-US" dirty="0"/>
              <a:t>     (231÷538)×100≈ 42.9</a:t>
            </a:r>
          </a:p>
          <a:p>
            <a:pPr marL="0" indent="0">
              <a:buNone/>
            </a:pPr>
            <a:endParaRPr lang="en-US" dirty="0"/>
          </a:p>
          <a:p>
            <a:pPr>
              <a:buAutoNum type="arabicPeriod" startAt="2"/>
            </a:pPr>
            <a:r>
              <a:rPr lang="en-US" b="1" dirty="0"/>
              <a:t>Single Individuals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Bike Purchasers: 250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Singles: 462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Purchase Rate:</a:t>
            </a:r>
          </a:p>
          <a:p>
            <a:pPr marL="0" indent="0">
              <a:buNone/>
            </a:pPr>
            <a:r>
              <a:rPr lang="en-US" dirty="0"/>
              <a:t>     (250÷462)×100≈ 54.1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E9B3417-3E9C-66F0-D111-62888390F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758" y="812471"/>
            <a:ext cx="6785326" cy="324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7322" y="383604"/>
            <a:ext cx="6903076" cy="6225918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1800" b="1" dirty="0"/>
              <a:t>Professionals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Bike Purchasers: 150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Purchase Rate: (150 ÷ 276) × 100 ≈ 54.3%</a:t>
            </a:r>
          </a:p>
          <a:p>
            <a:endParaRPr lang="en-US" sz="1800" dirty="0"/>
          </a:p>
          <a:p>
            <a:pPr marL="342900" indent="-342900">
              <a:buAutoNum type="arabicPeriod" startAt="2"/>
            </a:pPr>
            <a:r>
              <a:rPr lang="en-US" sz="1800" b="1" dirty="0"/>
              <a:t>Skilled Manual Workers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Bike Purchasers: 115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Total Skilled Manual: 255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Purchase Rate: (115 ÷ 255) × 100 ≈ 45.1%</a:t>
            </a:r>
          </a:p>
          <a:p>
            <a:endParaRPr lang="en-US" sz="1800" dirty="0"/>
          </a:p>
          <a:p>
            <a:pPr marL="342900" indent="-342900">
              <a:buAutoNum type="arabicPeriod" startAt="3"/>
            </a:pPr>
            <a:r>
              <a:rPr lang="en-US" sz="1800" b="1" dirty="0"/>
              <a:t>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Bike Purchasers: 73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Total: 173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Purchase Rate: (73 ÷ 173) × 100 ≈ 42.2%</a:t>
            </a:r>
          </a:p>
          <a:p>
            <a:endParaRPr lang="en-US" sz="1800" dirty="0"/>
          </a:p>
          <a:p>
            <a:pPr marL="342900" indent="-342900">
              <a:buAutoNum type="arabicPeriod" startAt="4"/>
            </a:pPr>
            <a:r>
              <a:rPr lang="en-US" sz="1800" b="1" dirty="0"/>
              <a:t>Clerical and Manual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Clerical Purchase Rate: (88 ÷ 177) × 100 ≈ 49.7%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Manual Purchase Rate: (55 ÷ 119) × 100 ≈ 46.2%</a:t>
            </a:r>
          </a:p>
          <a:p>
            <a:r>
              <a:rPr lang="en-US" sz="1800" b="1" dirty="0"/>
              <a:t> </a:t>
            </a:r>
          </a:p>
          <a:p>
            <a:endParaRPr lang="en-US" sz="1800" dirty="0"/>
          </a:p>
          <a:p>
            <a:pPr marL="457200" indent="-457200">
              <a:buAutoNum type="arabicPeriod"/>
            </a:pPr>
            <a:endParaRPr lang="en-US" sz="1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48F95A-B70C-424C-7314-1EBD41230A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28999"/>
            <a:ext cx="6068272" cy="342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19870" y="129209"/>
            <a:ext cx="7272130" cy="6718852"/>
          </a:xfrm>
        </p:spPr>
        <p:txBody>
          <a:bodyPr/>
          <a:lstStyle/>
          <a:p>
            <a:pPr marL="342900" indent="-342900">
              <a:buAutoNum type="arabicPeriod"/>
            </a:pPr>
            <a:r>
              <a:rPr lang="en-US" b="1" dirty="0"/>
              <a:t>Young Buyers (21–30)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Majority of these buyers own 0–1 car (11 + 14 = 25 out of 39 ≈ 64%).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Very few (only 1) own 3 cars; none own 4 cars.</a:t>
            </a:r>
          </a:p>
          <a:p>
            <a:pPr marL="342900" indent="-342900">
              <a:buAutoNum type="arabicPeriod" startAt="2"/>
            </a:pPr>
            <a:r>
              <a:rPr lang="en-US" b="1" dirty="0"/>
              <a:t>Prime Age Group (31–40)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age group accounts for ~40% of all bike buyers (193 out of 481).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Interestingly, many of them own 0 or 1 car (101 + 57 = 158).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10 of them even own 4 cars yet still purchased a bike.</a:t>
            </a:r>
          </a:p>
          <a:p>
            <a:pPr marL="342900" indent="-342900">
              <a:buAutoNum type="arabicPeriod" startAt="3"/>
            </a:pPr>
            <a:r>
              <a:rPr lang="en-US" b="1" dirty="0"/>
              <a:t>Middle-Aged Buyers (41–50)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Spread across all car ownership levels, with a noticeable peak at 2 cars (34) and 1 car (57).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Around ~33% own 2+ cars, still choosing to buy a bike.</a:t>
            </a:r>
          </a:p>
          <a:p>
            <a:pPr marL="342900" indent="-342900">
              <a:buAutoNum type="arabicPeriod" startAt="4"/>
            </a:pPr>
            <a:r>
              <a:rPr lang="en-US" b="1" dirty="0"/>
              <a:t>Older Buyers (51–60)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majority own 2+ cars (43 + 11 + 2 = 56) out of 80.</a:t>
            </a:r>
          </a:p>
          <a:p>
            <a:pPr marL="342900" indent="-342900">
              <a:buAutoNum type="arabicPeriod" startAt="5"/>
            </a:pPr>
            <a:r>
              <a:rPr lang="en-US" b="1" dirty="0"/>
              <a:t>Senior Buyers (61–80)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Very low sample size (only 30 buyers total from 61–80 age group).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Still, 15 of the 25 in 61–70 group own 2 cars, and some even own 3.</a:t>
            </a:r>
          </a:p>
          <a:p>
            <a:pPr marL="342900" indent="-342900">
              <a:buAutoNum type="arabicPeriod" startAt="5"/>
            </a:pPr>
            <a:endParaRPr lang="en-US" dirty="0"/>
          </a:p>
          <a:p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3FC067-4D5B-2B76-FD92-66C93A88B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1358"/>
            <a:ext cx="4919870" cy="399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3668" y="1607288"/>
            <a:ext cx="5829147" cy="3961593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b="1" dirty="0"/>
              <a:t>Home Owners:</a:t>
            </a:r>
          </a:p>
          <a:p>
            <a:r>
              <a:rPr lang="en-US" dirty="0"/>
              <a:t>Purchase Rate: (330 ÷ 700) × 100 = 47.14 % </a:t>
            </a:r>
          </a:p>
          <a:p>
            <a:r>
              <a:rPr lang="en-US" dirty="0"/>
              <a:t>Non-Purchase Rate = 52.86%</a:t>
            </a:r>
          </a:p>
          <a:p>
            <a:pPr marL="0" indent="0">
              <a:buNone/>
            </a:pPr>
            <a:endParaRPr lang="en-US" dirty="0"/>
          </a:p>
          <a:p>
            <a:pPr marL="342900" indent="-342900">
              <a:buAutoNum type="arabicPeriod" startAt="2"/>
            </a:pPr>
            <a:r>
              <a:rPr lang="en-US" b="1" dirty="0"/>
              <a:t>Non-Home Owners:</a:t>
            </a:r>
          </a:p>
          <a:p>
            <a:r>
              <a:rPr lang="en-US" dirty="0"/>
              <a:t>Purchase Rate: (150 ÷ 310) × 100 = 48.39 %</a:t>
            </a:r>
          </a:p>
          <a:p>
            <a:r>
              <a:rPr lang="en-US" dirty="0"/>
              <a:t>Non-Purchase Rate = 51.61% 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1BE660-ACDB-1F0C-7F28-69EB2D2CF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017" y="1381538"/>
            <a:ext cx="6096851" cy="4094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00683"/>
            <a:ext cx="10511627" cy="1298299"/>
          </a:xfrm>
        </p:spPr>
        <p:txBody>
          <a:bodyPr/>
          <a:lstStyle/>
          <a:p>
            <a:r>
              <a:rPr lang="en-US" dirty="0"/>
              <a:t>Recommendations to increase bike sales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F660CA-F115-EE20-B1BA-13C2B897E3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14400" y="2236304"/>
            <a:ext cx="10511627" cy="4522305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Target Singles – </a:t>
            </a:r>
            <a:r>
              <a:rPr lang="en-US" dirty="0"/>
              <a:t>Higher purchase rate (54%); focus on independence &amp; mobility.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Focus on Graduates &amp; Professionals – </a:t>
            </a:r>
            <a:r>
              <a:rPr lang="en-US" dirty="0"/>
              <a:t>Strong interest in premium bikes.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Expand in Pacific Region – </a:t>
            </a:r>
            <a:r>
              <a:rPr lang="en-US" dirty="0"/>
              <a:t>Highest bike purchase rate (~59%).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Promote to High-Income Groups –</a:t>
            </a:r>
            <a:r>
              <a:rPr lang="en-US" dirty="0"/>
              <a:t> More likely to buy; offer EMI plans.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Highlight Bikes as 2nd Vehicles – </a:t>
            </a:r>
            <a:r>
              <a:rPr lang="en-US" dirty="0"/>
              <a:t>Many buyers already own 2+ cars.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Leverage Homeowners – </a:t>
            </a:r>
            <a:r>
              <a:rPr lang="en-US" dirty="0"/>
              <a:t>Form majority of bike buyers.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Custom Messaging by Occupation – </a:t>
            </a:r>
            <a:r>
              <a:rPr lang="en-US" dirty="0"/>
              <a:t>Durability for workers, efficiency for managers.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Use Data Segmentation – </a:t>
            </a:r>
            <a:r>
              <a:rPr lang="en-US" dirty="0"/>
              <a:t>Combine traits (e.g., Single + Graduate + $55K+) for targeted campaigns.</a:t>
            </a:r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HIMANSHU</a:t>
            </a:r>
          </a:p>
          <a:p>
            <a:r>
              <a:rPr lang="en-US"/>
              <a:t>Role</a:t>
            </a:r>
            <a:r>
              <a:rPr lang="en-US" dirty="0"/>
              <a:t>: Data Analyst Intern</a:t>
            </a:r>
          </a:p>
          <a:p>
            <a:r>
              <a:rPr lang="en-US" dirty="0">
                <a:hlinkClick r:id="rId3"/>
              </a:rPr>
              <a:t>hiimanshuu0406@gmail.com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{19B4A058-8F17-4AA9-8E0D-F3E2CDC6B129}TF8a9b5915-b8c7-461e-8cdd-693d48b5e32371f7b7e2_win32-4bf0b9a2ea37</Template>
  <TotalTime>241</TotalTime>
  <Words>858</Words>
  <Application>Microsoft Office PowerPoint</Application>
  <PresentationFormat>Widescreen</PresentationFormat>
  <Paragraphs>122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Sabon Next LT</vt:lpstr>
      <vt:lpstr>Custom</vt:lpstr>
      <vt:lpstr>Bike dekho sales analyses</vt:lpstr>
      <vt:lpstr>Objectives</vt:lpstr>
      <vt:lpstr>Data Overview</vt:lpstr>
      <vt:lpstr>Excel insights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Recommendations to increase bike sales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Himanshu Sharma</dc:creator>
  <cp:lastModifiedBy>Himanshu Sharma</cp:lastModifiedBy>
  <cp:revision>4</cp:revision>
  <dcterms:created xsi:type="dcterms:W3CDTF">2025-07-19T07:29:23Z</dcterms:created>
  <dcterms:modified xsi:type="dcterms:W3CDTF">2025-08-31T11:58:05Z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